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(20s): The state already knows who owns the Land Cruiser and who pays the Rs 400k electricity bill. It just never connects the dots. We built the system that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cause is not missing data — it is disconnection. Name the silos. End on: the wealth is visible, the links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(40s): five registries in, one knowledge graph, one 0-100 deviation score out — and every flag arrives with its own audit trail. Everything unsupervised: no labels, because in the real world nobody hands you a list of evaders.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judges want depth: the matcher calibrates itself with no labels, embeddings solve Urdu/English, the Isolation Forest works on ratios so wealth alone is never a flag, and the GNN autoencoder catches network shapes. All four are unsupervised - no answer key anywhere in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Killer demo (60s): live, open the proxy tab. This man files a clean return — a spreadsheet clears him. Expand his household: the frontmen light up holding crores. Tabular analysis catches 7 percent of these people. Our graph catches 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synthetic-data objection before judges raise it: we generated the data, so we firewalled the answer key. The detector is fully unsupervised; evaluation happens after the fact, like a real audit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(30s): the buyer is the state — even a fraction of a point of tax-to-GDP pays for this many times over. And the same engine sells to banks for AML, which de-risks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(20s): recite the two lines, gesture at the three pillars, invite them to the dashboard. This is deployable, not a science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371600"/>
            <a:ext cx="640080" cy="1143000"/>
          </a:xfrm>
          <a:prstGeom prst="line">
            <a:avLst/>
          </a:prstGeom>
          <a:noFill/>
          <a:ln w="15875">
            <a:solidFill>
              <a:srgbClr val="3E7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7223760" y="1014984"/>
            <a:ext cx="603504" cy="1499616"/>
          </a:xfrm>
          <a:prstGeom prst="line">
            <a:avLst/>
          </a:prstGeom>
          <a:noFill/>
          <a:ln w="15875">
            <a:solidFill>
              <a:srgbClr val="3E7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223760" y="2039112"/>
            <a:ext cx="1216152" cy="475488"/>
          </a:xfrm>
          <a:prstGeom prst="line">
            <a:avLst/>
          </a:prstGeom>
          <a:noFill/>
          <a:ln w="15875">
            <a:solidFill>
              <a:srgbClr val="3E7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2514600"/>
            <a:ext cx="978408" cy="841248"/>
          </a:xfrm>
          <a:prstGeom prst="line">
            <a:avLst/>
          </a:prstGeom>
          <a:noFill/>
          <a:ln w="15875">
            <a:solidFill>
              <a:srgbClr val="3E7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455664" y="2514600"/>
            <a:ext cx="768096" cy="1060704"/>
          </a:xfrm>
          <a:prstGeom prst="line">
            <a:avLst/>
          </a:prstGeom>
          <a:noFill/>
          <a:ln w="15875">
            <a:solidFill>
              <a:srgbClr val="3E7A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443216" y="3355848"/>
            <a:ext cx="758952" cy="886968"/>
          </a:xfrm>
          <a:prstGeom prst="line">
            <a:avLst/>
          </a:prstGeom>
          <a:noFill/>
          <a:ln w="15875">
            <a:solidFill>
              <a:srgbClr val="3E7A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55664" y="3575304"/>
            <a:ext cx="987552" cy="667512"/>
          </a:xfrm>
          <a:prstGeom prst="line">
            <a:avLst/>
          </a:prstGeom>
          <a:noFill/>
          <a:ln w="15875">
            <a:solidFill>
              <a:srgbClr val="3E7A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7264" y="1014984"/>
            <a:ext cx="612648" cy="1024128"/>
          </a:xfrm>
          <a:prstGeom prst="line">
            <a:avLst/>
          </a:prstGeom>
          <a:noFill/>
          <a:ln w="15875">
            <a:solidFill>
              <a:srgbClr val="3E7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234440"/>
            <a:ext cx="274320" cy="274320"/>
          </a:xfrm>
          <a:prstGeom prst="ellipse">
            <a:avLst/>
          </a:prstGeom>
          <a:solidFill>
            <a:srgbClr val="F2F6F4"/>
          </a:solidFill>
          <a:ln/>
        </p:spPr>
      </p:sp>
      <p:sp>
        <p:nvSpPr>
          <p:cNvPr id="11" name="Shape 9"/>
          <p:cNvSpPr/>
          <p:nvPr/>
        </p:nvSpPr>
        <p:spPr>
          <a:xfrm>
            <a:off x="7726680" y="914400"/>
            <a:ext cx="201168" cy="201168"/>
          </a:xfrm>
          <a:prstGeom prst="ellipse">
            <a:avLst/>
          </a:prstGeom>
          <a:solidFill>
            <a:srgbClr val="F2F6F4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1920240"/>
            <a:ext cx="237744" cy="237744"/>
          </a:xfrm>
          <a:prstGeom prst="ellipse">
            <a:avLst/>
          </a:prstGeom>
          <a:solidFill>
            <a:srgbClr val="F2F6F4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2331720"/>
            <a:ext cx="365760" cy="3657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3246120"/>
            <a:ext cx="219456" cy="219456"/>
          </a:xfrm>
          <a:prstGeom prst="ellipse">
            <a:avLst/>
          </a:prstGeom>
          <a:solidFill>
            <a:srgbClr val="F2F6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3474720"/>
            <a:ext cx="201168" cy="201168"/>
          </a:xfrm>
          <a:prstGeom prst="ellipse">
            <a:avLst/>
          </a:prstGeom>
          <a:solidFill>
            <a:srgbClr val="F2F6F4"/>
          </a:solidFill>
          <a:ln/>
        </p:spPr>
      </p:sp>
      <p:sp>
        <p:nvSpPr>
          <p:cNvPr id="16" name="Shape 14"/>
          <p:cNvSpPr/>
          <p:nvPr/>
        </p:nvSpPr>
        <p:spPr>
          <a:xfrm>
            <a:off x="7360920" y="4160520"/>
            <a:ext cx="164592" cy="164592"/>
          </a:xfrm>
          <a:prstGeom prst="ellipse">
            <a:avLst/>
          </a:prstGeom>
          <a:solidFill>
            <a:srgbClr val="F2F6F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188720"/>
            <a:ext cx="5577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AI for broadening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national tax net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66928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wealth is visible. The links are not.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 Hackathon 2026  ·  Problem #2 (Ciklum)  ·  FinTech · knowledge graphs · fraud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Billions hiding between databases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60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tax-to-GDP ratio is among the lowest in the world — and not for lack of data. The state already records who owns the 3000cc SUV, who pays Rs 400,000 a month in electricity, who flies abroad six times a year.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Excise, FBR, DISCOs, FIA and the land registries never talk to each other. High-net-worth non-filers live in the gaps between databases.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2514600" y="340156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tax-to-GDP ratio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world's lowest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83480" y="960120"/>
            <a:ext cx="3703320" cy="3611880"/>
          </a:xfrm>
          <a:prstGeom prst="roundRect">
            <a:avLst>
              <a:gd name="adj" fmla="val 2278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57800" y="1115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citizen, four databases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57800" y="1627632"/>
            <a:ext cx="457200" cy="457200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174650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70448" y="1591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3000cc Land Cruiser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70448" y="1865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vehicle registry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57800" y="2340864"/>
            <a:ext cx="457200" cy="457200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4597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70448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400,000 / month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870448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electricity billing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257800" y="3054096"/>
            <a:ext cx="457200" cy="457200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317296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70448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international trips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870448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 travel logs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257800" y="376732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388620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70448" y="3730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Declares: Rs 0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870448" y="4005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 tax return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983480" y="468172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above exists today. No system connects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silos to an audit-ready flag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70432"/>
            <a:ext cx="420624" cy="420624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1279794"/>
            <a:ext cx="201900" cy="201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0700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Ingest five silos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1719072"/>
            <a:ext cx="2304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Vehicles, property, utilities, travel, tax returns — 195k messy records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1170432"/>
            <a:ext cx="420624" cy="420624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082" y="1279794"/>
            <a:ext cx="201900" cy="201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120700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Resolve identities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74720" y="1719072"/>
            <a:ext cx="2304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matching survives Urdu/English names and dirty CNICs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00584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170432"/>
            <a:ext cx="420624" cy="420624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722" y="1279794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120700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Build the graph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09360" y="1719072"/>
            <a:ext cx="2304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linked to assets and households — 53,586 entities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2953512"/>
            <a:ext cx="420624" cy="420624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42" y="3062874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29900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Score deviation 0–100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0080" y="3502152"/>
            <a:ext cx="2304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graph neural network, fully unsupervised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91840" y="278892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74720" y="2953512"/>
            <a:ext cx="420624" cy="420624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082" y="3062874"/>
            <a:ext cx="201900" cy="201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23360" y="29900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Explain every flag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474720" y="3502152"/>
            <a:ext cx="2304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Plain-PKR audit trail and a bilingual Urdu/English PDF notice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26480" y="2788920"/>
            <a:ext cx="2651760" cy="1627632"/>
          </a:xfrm>
          <a:prstGeom prst="roundRect">
            <a:avLst>
              <a:gd name="adj" fmla="val 4494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09360" y="2953512"/>
            <a:ext cx="420624" cy="420624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722" y="3062874"/>
            <a:ext cx="201900" cy="2019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58000" y="299008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Prove it honestly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309360" y="3502152"/>
            <a:ext cx="2304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scorecard — the detector never sees the answer key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end-to-end  ·  50,000-citizen simulation  ·  ~20 minutes on a laptop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inside — four models, one score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457200" cy="457200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143000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784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Fellegi–Sunter probabilistic matcher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78992" y="128930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Self-calibrating record linkage — learns evidence weights (CNIC, DOB, father's name) from the data itself, no labels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911096"/>
            <a:ext cx="457200" cy="457200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02996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186537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sentence embeddings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78992" y="217627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transformer maps Urdu and English spellings of the same name to the same point in vector space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798064"/>
            <a:ext cx="457200" cy="457200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91693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275234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78992" y="306324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 on footprint-vs-declared ratios — rich-but-honest filers stay inliers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685032"/>
            <a:ext cx="457200" cy="457200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80390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363931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autoencoder (GNN)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078992" y="39502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over the knowledge graph — flags benami networks by their shape, not their books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532120" y="1024128"/>
            <a:ext cx="3154680" cy="3456432"/>
          </a:xfrm>
          <a:prstGeom prst="roundRect">
            <a:avLst>
              <a:gd name="adj" fmla="val 2609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760720" y="1207008"/>
            <a:ext cx="420624" cy="420624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082" y="1316370"/>
            <a:ext cx="201900" cy="2019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09360" y="12435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stack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760720" y="1755648"/>
            <a:ext cx="27889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NetworkX knowledge graph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Geometric (GNN) · sentence-transformers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· ReportLab bilingual PDF notices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pytest tests incl. a wall test on label isolation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path: blocked matching (near-linear) → Neo4j + Spark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blends both detectors into one 0–100 deviation score — quantile-aligned so the audit threshold keeps its meaning.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moat: catch the kingpin, not the frontman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1150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1273759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16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Benami evasion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178308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principal files a clean, plausible return. The assets sit with frontmen — drivers, relatives — in the same household. His own books are spotless: spreadsheets and tabular ML clear him.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knowledge graph links households. Wealth hidden one hop away becomes a signal, and the graph neural network recognises the network shape itself.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1828800" cy="2331720"/>
          </a:xfrm>
          <a:prstGeom prst="roundRect">
            <a:avLst>
              <a:gd name="adj" fmla="val 4500"/>
            </a:avLst>
          </a:prstGeom>
          <a:solidFill>
            <a:srgbClr val="11503C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CC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498348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hidden principals caught by tabular ML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03720" y="960120"/>
            <a:ext cx="1920240" cy="2788920"/>
          </a:xfrm>
          <a:prstGeom prst="roundRect">
            <a:avLst>
              <a:gd name="adj" fmla="val 4286"/>
            </a:avLst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6903720" y="1280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7040880" y="24688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13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our graph AI — same data, same wall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2,365 hidden proxy networks inside a 50,000-person simulation. Only the graph differs.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like a real 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70432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1883664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entity-resolution precision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33472" y="10515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33472" y="1170432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0" y="1883664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entity-resolution recall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9744" y="10515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9744" y="1170432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919472" y="1883664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average precision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86016" y="1051560"/>
            <a:ext cx="1993392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86016" y="1170432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095744" y="1883664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green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53512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15568" y="279806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wall. </a:t>
            </a:r>
            <a:pPr indent="0" marL="0">
              <a:buNone/>
            </a:pPr>
            <a:r>
              <a:rPr lang="en-US" sz="135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answer key is read by exactly one file, only after detection — enforced by an automated test. Our metrics cannot be circular.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" y="3566160"/>
            <a:ext cx="457200" cy="457200"/>
          </a:xfrm>
          <a:prstGeom prst="ellipse">
            <a:avLst/>
          </a:prstGeom>
          <a:solidFill>
            <a:srgbClr val="EAF3E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8503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15568" y="352958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honesty check. </a:t>
            </a:r>
            <a:pPr indent="0" marL="0">
              <a:buNone/>
            </a:pPr>
            <a:r>
              <a:rPr lang="en-US" sz="135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in the dashboard re-scores real citizens through the demo form and matches the pipeline to the decimal — judges can watch the proof run.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cases planted and passed: same-name father and son, twins, masked CNICs, Urdu/English transliteration.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markets, one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41648" cy="2423160"/>
          </a:xfrm>
          <a:prstGeom prst="roundRect">
            <a:avLst>
              <a:gd name="adj" fmla="val 3396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07008"/>
            <a:ext cx="457200" cy="457200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258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61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sovereign GovTech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attack on the FBR tax-gap mandate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tax-to-GDP is worth billions a year — pays for itself on a handful of recovered cases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layer over existing databases: no new law, no disruption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041648" cy="2423160"/>
          </a:xfrm>
          <a:prstGeom prst="roundRect">
            <a:avLst>
              <a:gd name="adj" fmla="val 3396"/>
            </a:avLst>
          </a:prstGeom>
          <a:solidFill>
            <a:srgbClr val="EAF3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207008"/>
            <a:ext cx="457200" cy="457200"/>
          </a:xfrm>
          <a:prstGeom prst="ellipse">
            <a:avLst/>
          </a:prstGeom>
          <a:solidFill>
            <a:srgbClr val="1D6F5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2588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261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Adjacent: banking KYC / AML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178308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Benami detection is structurally identical to money-mule and shell-network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SBP-mandated AML compliance and beneficial-ownership discovery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zero re-architecture — doubles the addressable market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40233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8D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402336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one province's excise + DISCO data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063240" y="402336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337560" y="40233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8D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47288" y="402336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silos: travel, land registry, bank feeds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43600" y="402336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17920" y="40233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27648" y="402336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3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the same engine to banks for AML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silo compounds the graph's power. Blocking keeps matching near-linear — Neo4j + Spark at national scale.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Tabular analysis nabs the frontmen.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AI nabs the kingpin.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645920" y="2697480"/>
            <a:ext cx="566928" cy="566928"/>
          </a:xfrm>
          <a:prstGeom prst="ellipse">
            <a:avLst/>
          </a:prstGeom>
          <a:solidFill>
            <a:srgbClr val="1150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8437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data the state already holds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7680" y="2697480"/>
            <a:ext cx="566928" cy="566928"/>
          </a:xfrm>
          <a:prstGeom prst="ellipse">
            <a:avLst/>
          </a:prstGeom>
          <a:solidFill>
            <a:srgbClr val="1150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843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explainable in plain PKR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949440" y="2697480"/>
            <a:ext cx="566928" cy="566928"/>
          </a:xfrm>
          <a:prstGeom prst="ellipse">
            <a:avLst/>
          </a:prstGeom>
          <a:solidFill>
            <a:srgbClr val="11503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284378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8076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powers bank AML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Pilot-ready. Let us show you the live demo.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AI for Broadening the National Tax Net</dc:title>
  <dc:subject>PptxGenJS Presentation</dc:subject>
  <dc:creator>tax-net team</dc:creator>
  <cp:lastModifiedBy>tax-net team</cp:lastModifiedBy>
  <cp:revision>1</cp:revision>
  <dcterms:created xsi:type="dcterms:W3CDTF">2026-06-13T00:16:32Z</dcterms:created>
  <dcterms:modified xsi:type="dcterms:W3CDTF">2026-06-13T00:16:32Z</dcterms:modified>
</cp:coreProperties>
</file>